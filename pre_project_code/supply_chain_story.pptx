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2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251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Predicting Delivery Service Levels in Dutch Supermarket Supply Chains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10312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C8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274320" y="758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11D"/>
                </a:solidFill>
              </a:rPr>
              <a:t>8,361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C4DC"/>
                </a:solidFill>
              </a:rPr>
              <a:t>Total Orders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06040" y="749808"/>
            <a:ext cx="210312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C8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2606040" y="758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11D"/>
                </a:solidFill>
              </a:rPr>
              <a:t>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1005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C4DC"/>
                </a:solidFill>
              </a:rPr>
              <a:t>Merged Tables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937760" y="749808"/>
            <a:ext cx="210312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C8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937760" y="758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11D"/>
                </a:solidFill>
              </a:rPr>
              <a:t>99%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005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C4DC"/>
                </a:solidFill>
              </a:rPr>
              <a:t>Model Accuracy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269480" y="749808"/>
            <a:ext cx="210312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C8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7269480" y="758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11D"/>
                </a:solidFill>
              </a:rPr>
              <a:t>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69480" y="1005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C4DC"/>
                </a:solidFill>
              </a:rPr>
              <a:t>Total Errors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601200" y="749808"/>
            <a:ext cx="210312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E5C8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9601200" y="758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11D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0" y="1005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C4DC"/>
                </a:solidFill>
              </a:rPr>
              <a:t>NL Ports Flagged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" y="1389888"/>
            <a:ext cx="2697480" cy="3246120"/>
          </a:xfrm>
          <a:prstGeom prst="rect">
            <a:avLst/>
          </a:prstGeom>
          <a:solidFill>
            <a:srgbClr val="122338"/>
          </a:solidFill>
          <a:ln w="19050">
            <a:solidFill>
              <a:srgbClr val="F4A11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182880" y="1389888"/>
            <a:ext cx="2697480" cy="256032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182880" y="1389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KNN Confusion Matrix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" y="1645920"/>
            <a:ext cx="2697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A6080"/>
                </a:solidFill>
              </a:rPr>
              <a:t>[ Drop your image here 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35808" y="1389888"/>
            <a:ext cx="2697480" cy="3246120"/>
          </a:xfrm>
          <a:prstGeom prst="rect">
            <a:avLst/>
          </a:prstGeom>
          <a:solidFill>
            <a:srgbClr val="122338"/>
          </a:solidFill>
          <a:ln w="19050">
            <a:solidFill>
              <a:srgbClr val="F4A11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3035808" y="1389888"/>
            <a:ext cx="2697480" cy="256032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3035808" y="1389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KNN Decision Boundary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35808" y="1645920"/>
            <a:ext cx="2697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A6080"/>
                </a:solidFill>
              </a:rPr>
              <a:t>[ Drop your image here 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35808" y="4389120"/>
            <a:ext cx="269748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E5C8A"/>
            </a:solidFill>
            <a:prstDash val="solid"/>
          </a:ln>
        </p:spPr>
        <p:txBody>
          <a:bodyPr/>
          <a:lstStyle/>
          <a:p>
            <a:endParaRPr lang="en-ID" sz="2400"/>
          </a:p>
        </p:txBody>
      </p:sp>
      <p:sp>
        <p:nvSpPr>
          <p:cNvPr id="31" name="Text 29"/>
          <p:cNvSpPr/>
          <p:nvPr/>
        </p:nvSpPr>
        <p:spPr>
          <a:xfrm>
            <a:off x="3035808" y="4389120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0C4DC"/>
                </a:solidFill>
              </a:rPr>
              <a:t>DTD = urgent orders  |  DTP = bulk restocking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897880" y="1389888"/>
            <a:ext cx="2697480" cy="3246120"/>
          </a:xfrm>
          <a:prstGeom prst="rect">
            <a:avLst/>
          </a:prstGeom>
          <a:solidFill>
            <a:srgbClr val="122338"/>
          </a:solidFill>
          <a:ln w="19050">
            <a:solidFill>
              <a:srgbClr val="F4A11D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33" name="Shape 31"/>
          <p:cNvSpPr/>
          <p:nvPr/>
        </p:nvSpPr>
        <p:spPr>
          <a:xfrm>
            <a:off x="5897880" y="1389888"/>
            <a:ext cx="2697480" cy="256032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32"/>
          <p:cNvSpPr/>
          <p:nvPr/>
        </p:nvSpPr>
        <p:spPr>
          <a:xfrm>
            <a:off x="5897880" y="1389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Logistic Regression Coefficients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97880" y="1645920"/>
            <a:ext cx="2697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A6080"/>
                </a:solidFill>
              </a:rPr>
              <a:t>[ Drop your image here 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97880" y="4389120"/>
            <a:ext cx="269748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E5C8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5897880" y="4389120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0C4DC"/>
                </a:solidFill>
              </a:rPr>
              <a:t>avg_transit_days is the strongest predictor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759952" y="1389888"/>
            <a:ext cx="2697480" cy="3246120"/>
          </a:xfrm>
          <a:prstGeom prst="rect">
            <a:avLst/>
          </a:prstGeom>
          <a:solidFill>
            <a:srgbClr val="122338"/>
          </a:solidFill>
          <a:ln w="19050">
            <a:solidFill>
              <a:srgbClr val="F4A11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Shape 37"/>
          <p:cNvSpPr/>
          <p:nvPr/>
        </p:nvSpPr>
        <p:spPr>
          <a:xfrm>
            <a:off x="8759952" y="1389888"/>
            <a:ext cx="2697480" cy="256032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Text 38"/>
          <p:cNvSpPr/>
          <p:nvPr/>
        </p:nvSpPr>
        <p:spPr>
          <a:xfrm>
            <a:off x="8759952" y="1389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Logistic Regression Confusion Matrix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759952" y="1645920"/>
            <a:ext cx="2697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A6080"/>
                </a:solidFill>
              </a:rPr>
              <a:t>[ Drop your image here ]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5404104"/>
            <a:ext cx="12192000" cy="841248"/>
          </a:xfrm>
          <a:prstGeom prst="rect">
            <a:avLst/>
          </a:prstGeom>
          <a:solidFill>
            <a:srgbClr val="122338"/>
          </a:solidFill>
          <a:ln w="12700">
            <a:solidFill>
              <a:srgbClr val="1E5C8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5" name="Shape 43"/>
          <p:cNvSpPr/>
          <p:nvPr/>
        </p:nvSpPr>
        <p:spPr>
          <a:xfrm>
            <a:off x="182880" y="5468112"/>
            <a:ext cx="347472" cy="347472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6" name="Text 44"/>
          <p:cNvSpPr/>
          <p:nvPr/>
        </p:nvSpPr>
        <p:spPr>
          <a:xfrm>
            <a:off x="182880" y="5468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D1B2A"/>
                </a:solidFill>
              </a:rPr>
              <a:t>DTP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585216" y="54681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Bulk restocking  |  Slow &amp; cheap  |  High quantity  |  Long transit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00400" y="5468112"/>
            <a:ext cx="347472" cy="347472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9" name="Text 47"/>
          <p:cNvSpPr/>
          <p:nvPr/>
        </p:nvSpPr>
        <p:spPr>
          <a:xfrm>
            <a:off x="3200400" y="5468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D1B2A"/>
                </a:solidFill>
              </a:rPr>
              <a:t>DTD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602736" y="54681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Urgent top-ups  |  Premium rate  |  Small orders  |  Fast delivery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17920" y="5468112"/>
            <a:ext cx="347472" cy="347472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2" name="Text 50"/>
          <p:cNvSpPr/>
          <p:nvPr/>
        </p:nvSpPr>
        <p:spPr>
          <a:xfrm>
            <a:off x="6217920" y="5468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D1B2A"/>
                </a:solidFill>
              </a:rPr>
              <a:t>NL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6620256" y="54681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Rotterdam &amp; Amsterdam flagged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412480" y="5477256"/>
            <a:ext cx="347472" cy="347472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5" name="Text 53"/>
          <p:cNvSpPr/>
          <p:nvPr/>
        </p:nvSpPr>
        <p:spPr>
          <a:xfrm>
            <a:off x="8412480" y="5477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D1B2A"/>
                </a:solidFill>
              </a:rPr>
              <a:t>USE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8860536" y="5440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Pre-allocate couriers &amp; warehouse capacity before order is confirmed</a:t>
            </a:r>
            <a:endParaRPr lang="en-US" sz="85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0B312B3-65D6-CC56-72F1-D53EDB28F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1645920"/>
            <a:ext cx="2688336" cy="273862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D4E2C0B-B785-5B34-B1AA-2181D2A49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1" y="1645920"/>
            <a:ext cx="2688336" cy="2756916"/>
          </a:xfrm>
          <a:prstGeom prst="rect">
            <a:avLst/>
          </a:prstGeom>
        </p:spPr>
      </p:pic>
      <p:sp>
        <p:nvSpPr>
          <p:cNvPr id="24" name="Shape 22"/>
          <p:cNvSpPr/>
          <p:nvPr/>
        </p:nvSpPr>
        <p:spPr>
          <a:xfrm>
            <a:off x="182880" y="4389120"/>
            <a:ext cx="269748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E5C8A"/>
            </a:solidFill>
            <a:prstDash val="solid"/>
          </a:ln>
        </p:spPr>
        <p:txBody>
          <a:bodyPr/>
          <a:lstStyle/>
          <a:p>
            <a:endParaRPr lang="en-ID" sz="2800"/>
          </a:p>
        </p:txBody>
      </p:sp>
      <p:sp>
        <p:nvSpPr>
          <p:cNvPr id="25" name="Text 23"/>
          <p:cNvSpPr/>
          <p:nvPr/>
        </p:nvSpPr>
        <p:spPr>
          <a:xfrm>
            <a:off x="182880" y="4389120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0C4DC"/>
                </a:solidFill>
              </a:rPr>
              <a:t>424 DTD + 1240 DTP correct  |  Only 9 errors</a:t>
            </a:r>
            <a:endParaRPr lang="en-US" sz="800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D8D1002A-7574-7EA9-C5AF-5DFF612721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3" y="1645920"/>
            <a:ext cx="2697479" cy="2756915"/>
          </a:xfrm>
          <a:prstGeom prst="rect">
            <a:avLst/>
          </a:prstGeom>
        </p:spPr>
      </p:pic>
      <p:sp>
        <p:nvSpPr>
          <p:cNvPr id="42" name="Shape 40"/>
          <p:cNvSpPr/>
          <p:nvPr/>
        </p:nvSpPr>
        <p:spPr>
          <a:xfrm>
            <a:off x="8759952" y="4389120"/>
            <a:ext cx="269748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E5C8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Text 41"/>
          <p:cNvSpPr/>
          <p:nvPr/>
        </p:nvSpPr>
        <p:spPr>
          <a:xfrm>
            <a:off x="8961120" y="4389120"/>
            <a:ext cx="2496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A0C4DC"/>
                </a:solidFill>
              </a:rPr>
              <a:t>0 DTP misclassified  |  Perfect bulk detection</a:t>
            </a:r>
            <a:endParaRPr lang="en-US" sz="8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866CFFF9-F10A-B1C6-4E4E-E7ACAA1ECD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1" y="1655064"/>
            <a:ext cx="269748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139</Words>
  <Application>Microsoft Office PowerPoint</Application>
  <PresentationFormat>Widescreen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Maulana Muammar (student)</cp:lastModifiedBy>
  <cp:revision>4</cp:revision>
  <dcterms:created xsi:type="dcterms:W3CDTF">2026-03-02T08:35:50Z</dcterms:created>
  <dcterms:modified xsi:type="dcterms:W3CDTF">2026-03-02T08:55:03Z</dcterms:modified>
</cp:coreProperties>
</file>